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DA6A39-A24F-42B0-975F-F61BA2281AE2}" v="11" dt="2026-02-14T06:37:41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 Bilenkin" userId="4411733d2631d10c" providerId="LiveId" clId="{B62D99B4-C9A6-42CF-9A38-FF13C7424BEA}"/>
    <pc:docChg chg="undo custSel modSld">
      <pc:chgData name="Maxim Bilenkin" userId="4411733d2631d10c" providerId="LiveId" clId="{B62D99B4-C9A6-42CF-9A38-FF13C7424BEA}" dt="2026-02-14T06:42:57.116" v="472" actId="20577"/>
      <pc:docMkLst>
        <pc:docMk/>
      </pc:docMkLst>
      <pc:sldChg chg="modSp mod">
        <pc:chgData name="Maxim Bilenkin" userId="4411733d2631d10c" providerId="LiveId" clId="{B62D99B4-C9A6-42CF-9A38-FF13C7424BEA}" dt="2026-02-14T06:42:57.116" v="472" actId="20577"/>
        <pc:sldMkLst>
          <pc:docMk/>
          <pc:sldMk cId="0" sldId="256"/>
        </pc:sldMkLst>
        <pc:spChg chg="mod">
          <ac:chgData name="Maxim Bilenkin" userId="4411733d2631d10c" providerId="LiveId" clId="{B62D99B4-C9A6-42CF-9A38-FF13C7424BEA}" dt="2026-02-14T06:42:57.116" v="47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42:18.435" v="468" actId="1392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axim Bilenkin" userId="4411733d2631d10c" providerId="LiveId" clId="{B62D99B4-C9A6-42CF-9A38-FF13C7424BEA}" dt="2026-02-14T06:21:36.784" v="255" actId="20577"/>
        <pc:sldMkLst>
          <pc:docMk/>
          <pc:sldMk cId="0" sldId="257"/>
        </pc:sldMkLst>
        <pc:spChg chg="mod">
          <ac:chgData name="Maxim Bilenkin" userId="4411733d2631d10c" providerId="LiveId" clId="{B62D99B4-C9A6-42CF-9A38-FF13C7424BEA}" dt="2026-02-14T06:20:21.769" v="224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21:36.784" v="255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xim Bilenkin" userId="4411733d2631d10c" providerId="LiveId" clId="{B62D99B4-C9A6-42CF-9A38-FF13C7424BEA}" dt="2026-02-14T06:24:15.733" v="273" actId="207"/>
        <pc:sldMkLst>
          <pc:docMk/>
          <pc:sldMk cId="0" sldId="258"/>
        </pc:sldMkLst>
        <pc:spChg chg="mod">
          <ac:chgData name="Maxim Bilenkin" userId="4411733d2631d10c" providerId="LiveId" clId="{B62D99B4-C9A6-42CF-9A38-FF13C7424BEA}" dt="2026-02-14T06:24:02.193" v="272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24:15.733" v="273" actId="207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Maxim Bilenkin" userId="4411733d2631d10c" providerId="LiveId" clId="{B62D99B4-C9A6-42CF-9A38-FF13C7424BEA}" dt="2026-02-14T06:35:39.702" v="408" actId="20577"/>
        <pc:sldMkLst>
          <pc:docMk/>
          <pc:sldMk cId="0" sldId="259"/>
        </pc:sldMkLst>
        <pc:spChg chg="mod">
          <ac:chgData name="Maxim Bilenkin" userId="4411733d2631d10c" providerId="LiveId" clId="{B62D99B4-C9A6-42CF-9A38-FF13C7424BEA}" dt="2026-02-14T06:05:14.152" v="82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35:39.702" v="408" actId="2057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Maxim Bilenkin" userId="4411733d2631d10c" providerId="LiveId" clId="{B62D99B4-C9A6-42CF-9A38-FF13C7424BEA}" dt="2026-02-14T06:33:40.079" v="399" actId="14100"/>
          <ac:picMkLst>
            <pc:docMk/>
            <pc:sldMk cId="0" sldId="259"/>
            <ac:picMk id="4" creationId="{08B263D0-3543-B4E4-CD79-84981791F0B2}"/>
          </ac:picMkLst>
        </pc:picChg>
      </pc:sldChg>
      <pc:sldChg chg="addSp modSp mod">
        <pc:chgData name="Maxim Bilenkin" userId="4411733d2631d10c" providerId="LiveId" clId="{B62D99B4-C9A6-42CF-9A38-FF13C7424BEA}" dt="2026-02-14T06:35:18.396" v="406" actId="207"/>
        <pc:sldMkLst>
          <pc:docMk/>
          <pc:sldMk cId="0" sldId="260"/>
        </pc:sldMkLst>
        <pc:spChg chg="mod">
          <ac:chgData name="Maxim Bilenkin" userId="4411733d2631d10c" providerId="LiveId" clId="{B62D99B4-C9A6-42CF-9A38-FF13C7424BEA}" dt="2026-02-14T06:32:13.296" v="387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35:18.396" v="406" actId="20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Maxim Bilenkin" userId="4411733d2631d10c" providerId="LiveId" clId="{B62D99B4-C9A6-42CF-9A38-FF13C7424BEA}" dt="2026-02-14T06:32:32.691" v="391" actId="1076"/>
          <ac:picMkLst>
            <pc:docMk/>
            <pc:sldMk cId="0" sldId="260"/>
            <ac:picMk id="4" creationId="{F76E1D61-A6FD-883D-DC78-A9FE2F3B7646}"/>
          </ac:picMkLst>
        </pc:picChg>
      </pc:sldChg>
      <pc:sldChg chg="addSp modSp mod">
        <pc:chgData name="Maxim Bilenkin" userId="4411733d2631d10c" providerId="LiveId" clId="{B62D99B4-C9A6-42CF-9A38-FF13C7424BEA}" dt="2026-02-14T06:38:49.466" v="444" actId="1076"/>
        <pc:sldMkLst>
          <pc:docMk/>
          <pc:sldMk cId="0" sldId="261"/>
        </pc:sldMkLst>
        <pc:spChg chg="mod">
          <ac:chgData name="Maxim Bilenkin" userId="4411733d2631d10c" providerId="LiveId" clId="{B62D99B4-C9A6-42CF-9A38-FF13C7424BEA}" dt="2026-02-14T06:36:30.699" v="41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38:14.503" v="442" actId="2763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Maxim Bilenkin" userId="4411733d2631d10c" providerId="LiveId" clId="{B62D99B4-C9A6-42CF-9A38-FF13C7424BEA}" dt="2026-02-14T06:38:49.466" v="444" actId="1076"/>
          <ac:picMkLst>
            <pc:docMk/>
            <pc:sldMk cId="0" sldId="261"/>
            <ac:picMk id="4" creationId="{17FB8D18-D211-8E35-45DD-AEE6C5B36590}"/>
          </ac:picMkLst>
        </pc:picChg>
      </pc:sldChg>
      <pc:sldChg chg="modSp mod">
        <pc:chgData name="Maxim Bilenkin" userId="4411733d2631d10c" providerId="LiveId" clId="{B62D99B4-C9A6-42CF-9A38-FF13C7424BEA}" dt="2026-02-14T06:39:52.284" v="465" actId="12"/>
        <pc:sldMkLst>
          <pc:docMk/>
          <pc:sldMk cId="0" sldId="262"/>
        </pc:sldMkLst>
        <pc:spChg chg="mod">
          <ac:chgData name="Maxim Bilenkin" userId="4411733d2631d10c" providerId="LiveId" clId="{B62D99B4-C9A6-42CF-9A38-FF13C7424BEA}" dt="2026-02-14T06:39:40.146" v="463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xim Bilenkin" userId="4411733d2631d10c" providerId="LiveId" clId="{B62D99B4-C9A6-42CF-9A38-FF13C7424BEA}" dt="2026-02-14T06:39:52.284" v="465" actId="12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84776"/>
            <a:ext cx="7772400" cy="1691298"/>
          </a:xfrm>
        </p:spPr>
        <p:txBody>
          <a:bodyPr>
            <a:normAutofit fontScale="90000"/>
          </a:bodyPr>
          <a:lstStyle/>
          <a:p>
            <a:r>
              <a:rPr sz="4900" b="1" dirty="0"/>
              <a:t>Investment Research Assistant</a:t>
            </a:r>
            <a:br>
              <a:rPr lang="en-US" b="1"/>
            </a:br>
            <a:r>
              <a:rPr lang="en-US" sz="2200" b="1"/>
              <a:t>Fine-Tuned </a:t>
            </a:r>
            <a:r>
              <a:rPr lang="en-US" sz="2200" b="1" dirty="0"/>
              <a:t>GPT Model + Streamlit Application</a:t>
            </a:r>
            <a:br>
              <a:rPr lang="en-US" b="1" dirty="0"/>
            </a:b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0953" y="3587262"/>
            <a:ext cx="7350369" cy="2473569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Maxim Bilenkin </a:t>
            </a:r>
          </a:p>
          <a:p>
            <a:r>
              <a:rPr lang="en-US" sz="1800" dirty="0">
                <a:solidFill>
                  <a:schemeClr val="tx1"/>
                </a:solidFill>
              </a:rPr>
              <a:t>DSC 670 Advanced Uses of Generative AI</a:t>
            </a:r>
          </a:p>
          <a:p>
            <a:r>
              <a:rPr lang="en-US" sz="1800" dirty="0">
                <a:solidFill>
                  <a:schemeClr val="tx1"/>
                </a:solidFill>
              </a:rPr>
              <a:t>Milestone 4</a:t>
            </a:r>
          </a:p>
          <a:p>
            <a:r>
              <a:rPr lang="en-US" sz="1800" dirty="0">
                <a:solidFill>
                  <a:schemeClr val="tx1"/>
                </a:solidFill>
              </a:rPr>
              <a:t>Winter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Developed a fine-tuned GPT-3.5 model</a:t>
            </a:r>
          </a:p>
          <a:p>
            <a:r>
              <a:rPr sz="2800" dirty="0"/>
              <a:t>Focused on SEC 10-K style financial analysis</a:t>
            </a:r>
          </a:p>
          <a:p>
            <a:r>
              <a:rPr sz="2800" dirty="0"/>
              <a:t>Designed to generate analyst-style summaries and risk assessments</a:t>
            </a:r>
          </a:p>
          <a:p>
            <a:r>
              <a:rPr sz="2800" dirty="0"/>
              <a:t>Built </a:t>
            </a:r>
            <a:r>
              <a:rPr lang="en-US" sz="2800" dirty="0"/>
              <a:t>an </a:t>
            </a:r>
            <a:r>
              <a:rPr sz="2800" dirty="0"/>
              <a:t>interactive web application using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Model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Base Model: gpt-3.5-turbo</a:t>
            </a:r>
          </a:p>
          <a:p>
            <a:r>
              <a:rPr sz="2800" dirty="0"/>
              <a:t>Custom training data for investment research prompts</a:t>
            </a:r>
          </a:p>
          <a:p>
            <a:r>
              <a:rPr sz="2800" dirty="0"/>
              <a:t>Structured responses for summaries and risk analysis</a:t>
            </a:r>
          </a:p>
          <a:p>
            <a:r>
              <a:rPr sz="2800" dirty="0"/>
              <a:t>Goal: Improve consistency and financial reasoning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9054"/>
          </a:xfrm>
        </p:spPr>
        <p:txBody>
          <a:bodyPr>
            <a:normAutofit/>
          </a:bodyPr>
          <a:lstStyle/>
          <a:p>
            <a:r>
              <a:rPr sz="4000" b="1" dirty="0"/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0069"/>
            <a:ext cx="8229600" cy="1970331"/>
          </a:xfrm>
        </p:spPr>
        <p:txBody>
          <a:bodyPr/>
          <a:lstStyle/>
          <a:p>
            <a:r>
              <a:rPr sz="2400" dirty="0"/>
              <a:t>Built </a:t>
            </a:r>
            <a:r>
              <a:rPr lang="en-US" sz="2400" dirty="0"/>
              <a:t>an </a:t>
            </a:r>
            <a:r>
              <a:rPr sz="2400" dirty="0"/>
              <a:t>interactive interface using Streamlit</a:t>
            </a:r>
          </a:p>
          <a:p>
            <a:r>
              <a:rPr sz="2400" dirty="0"/>
              <a:t>User enters investment-related prompts</a:t>
            </a:r>
          </a:p>
          <a:p>
            <a:r>
              <a:rPr sz="2400" dirty="0"/>
              <a:t>Application sends </a:t>
            </a:r>
            <a:r>
              <a:rPr lang="en-US" sz="2400" dirty="0"/>
              <a:t>a </a:t>
            </a:r>
            <a:r>
              <a:rPr sz="2400" dirty="0"/>
              <a:t>request to </a:t>
            </a:r>
            <a:r>
              <a:rPr lang="en-US" sz="2400" dirty="0"/>
              <a:t>the </a:t>
            </a:r>
            <a:r>
              <a:rPr sz="2400" dirty="0"/>
              <a:t>fine-tuned model</a:t>
            </a:r>
          </a:p>
          <a:p>
            <a:r>
              <a:rPr sz="2400" dirty="0"/>
              <a:t>Displays analyst-style response in real-time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263D0-3543-B4E4-CD79-84981791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85" y="3200400"/>
            <a:ext cx="5943600" cy="31769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855"/>
            <a:ext cx="8229600" cy="616316"/>
          </a:xfrm>
        </p:spPr>
        <p:txBody>
          <a:bodyPr>
            <a:normAutofit fontScale="90000"/>
          </a:bodyPr>
          <a:lstStyle/>
          <a:p>
            <a:r>
              <a:rPr sz="3600" b="1" dirty="0"/>
              <a:t>Example: Long-Term Investor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3"/>
            <a:ext cx="8229600" cy="2209797"/>
          </a:xfrm>
        </p:spPr>
        <p:txBody>
          <a:bodyPr>
            <a:noAutofit/>
          </a:bodyPr>
          <a:lstStyle/>
          <a:p>
            <a:r>
              <a:rPr sz="1800" dirty="0">
                <a:solidFill>
                  <a:srgbClr val="000000"/>
                </a:solidFill>
              </a:rPr>
              <a:t>Prompt:</a:t>
            </a:r>
          </a:p>
          <a:p>
            <a:r>
              <a:rPr sz="1800" dirty="0">
                <a:solidFill>
                  <a:srgbClr val="000000"/>
                </a:solidFill>
              </a:rPr>
              <a:t>Summarize this 10-K filing for a long-term investor.</a:t>
            </a:r>
          </a:p>
          <a:p>
            <a:r>
              <a:rPr sz="1800" dirty="0">
                <a:solidFill>
                  <a:srgbClr val="000000"/>
                </a:solidFill>
              </a:rPr>
              <a:t>Model Output:</a:t>
            </a:r>
          </a:p>
          <a:p>
            <a:r>
              <a:rPr sz="1800" dirty="0">
                <a:solidFill>
                  <a:srgbClr val="000000"/>
                </a:solidFill>
              </a:rPr>
              <a:t>This 10-K filing indicates consistent revenue growth, strong profitability, and a healthy balance sheet. Operating efficiency has improved, supporting sustainable earnings growth. Investors may find this company attractive for long-term investment.</a:t>
            </a:r>
            <a:endParaRPr lang="en-US" sz="1800" dirty="0">
              <a:solidFill>
                <a:srgbClr val="000000"/>
              </a:solidFill>
            </a:endParaRPr>
          </a:p>
          <a:p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E1D61-A6FD-883D-DC78-A9FE2F3B7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85" y="3153511"/>
            <a:ext cx="5943600" cy="3529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7331"/>
          </a:xfrm>
        </p:spPr>
        <p:txBody>
          <a:bodyPr>
            <a:normAutofit/>
          </a:bodyPr>
          <a:lstStyle/>
          <a:p>
            <a:r>
              <a:rPr lang="en-US" sz="4000" b="1" dirty="0"/>
              <a:t>Edge Case Testing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2836"/>
            <a:ext cx="8229600" cy="1802764"/>
          </a:xfrm>
        </p:spPr>
        <p:txBody>
          <a:bodyPr>
            <a:normAutofit lnSpcReduction="10000"/>
          </a:bodyPr>
          <a:lstStyle/>
          <a:p>
            <a:r>
              <a:rPr sz="2500" dirty="0"/>
              <a:t>Tested empty input submission</a:t>
            </a:r>
          </a:p>
          <a:p>
            <a:r>
              <a:rPr sz="2500" dirty="0"/>
              <a:t>Application correctly prevents blank prompts</a:t>
            </a:r>
          </a:p>
          <a:p>
            <a:r>
              <a:rPr sz="2500" dirty="0"/>
              <a:t>Displays </a:t>
            </a:r>
            <a:r>
              <a:rPr lang="en-US" sz="2500" dirty="0"/>
              <a:t>a </a:t>
            </a:r>
            <a:r>
              <a:rPr sz="2500" dirty="0"/>
              <a:t>warning message:</a:t>
            </a:r>
          </a:p>
          <a:p>
            <a:r>
              <a:rPr sz="2500" dirty="0"/>
              <a:t>"Please enter a prompt before submitting."</a:t>
            </a:r>
            <a:endParaRPr lang="en-US" sz="2500" dirty="0"/>
          </a:p>
          <a:p>
            <a:endParaRPr lang="en-US" sz="2800" dirty="0"/>
          </a:p>
          <a:p>
            <a:endParaRPr sz="2800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B8D18-D211-8E35-45DD-AEE6C5B3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15" y="3001108"/>
            <a:ext cx="5943600" cy="3605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Successfully fine-tuned a GPT model for financial analysis</a:t>
            </a:r>
          </a:p>
          <a:p>
            <a:r>
              <a:rPr sz="2800" dirty="0"/>
              <a:t>Built </a:t>
            </a:r>
            <a:r>
              <a:rPr lang="en-US" sz="2800" dirty="0"/>
              <a:t>a </a:t>
            </a:r>
            <a:r>
              <a:rPr sz="2800" dirty="0"/>
              <a:t>functional Streamlit web application</a:t>
            </a:r>
          </a:p>
          <a:p>
            <a:r>
              <a:rPr sz="2800" dirty="0"/>
              <a:t>Model produces structured investment insights</a:t>
            </a:r>
          </a:p>
          <a:p>
            <a:r>
              <a:rPr sz="2800" dirty="0"/>
              <a:t>Application handles user input validation</a:t>
            </a:r>
          </a:p>
          <a:p>
            <a:r>
              <a:rPr sz="2800" dirty="0"/>
              <a:t>Ready for future expansion using real SEC filings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221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Investment Research Assistant Fine-Tuned GPT Model + Streamlit Application </vt:lpstr>
      <vt:lpstr>Project Overview</vt:lpstr>
      <vt:lpstr>Model Fine-Tuning</vt:lpstr>
      <vt:lpstr>Streamlit Application</vt:lpstr>
      <vt:lpstr>Example: Long-Term Investor Summary</vt:lpstr>
      <vt:lpstr>Edge Case Testing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 Bilenkin</cp:lastModifiedBy>
  <cp:revision>1</cp:revision>
  <dcterms:created xsi:type="dcterms:W3CDTF">2013-01-27T09:14:16Z</dcterms:created>
  <dcterms:modified xsi:type="dcterms:W3CDTF">2026-02-14T06:43:00Z</dcterms:modified>
  <cp:category/>
</cp:coreProperties>
</file>