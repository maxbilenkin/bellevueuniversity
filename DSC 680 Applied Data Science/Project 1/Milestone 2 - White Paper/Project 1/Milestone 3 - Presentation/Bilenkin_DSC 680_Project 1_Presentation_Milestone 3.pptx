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D36E5A-A11C-4873-A483-EC286F8B46E3}" v="3" dt="2026-05-28T03:42:16.3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7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F89B623-7B58-42C9-9D43-D34C3AE7B5A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630892-1CC1-4EF5-A82B-ABB4BB4B76A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Banking industry is highly competitive  </a:t>
          </a:r>
        </a:p>
      </dgm:t>
    </dgm:pt>
    <dgm:pt modelId="{6FFD28CB-D536-48BE-8382-E7B5768CCEF0}" type="parTrans" cxnId="{7133D396-A225-4FA8-B70D-FBD87631C17F}">
      <dgm:prSet/>
      <dgm:spPr/>
      <dgm:t>
        <a:bodyPr/>
        <a:lstStyle/>
        <a:p>
          <a:endParaRPr lang="en-US"/>
        </a:p>
      </dgm:t>
    </dgm:pt>
    <dgm:pt modelId="{92CBEC7C-864E-4B4D-B6F4-1D5E2F98E588}" type="sibTrans" cxnId="{7133D396-A225-4FA8-B70D-FBD87631C17F}">
      <dgm:prSet/>
      <dgm:spPr/>
      <dgm:t>
        <a:bodyPr/>
        <a:lstStyle/>
        <a:p>
          <a:endParaRPr lang="en-US"/>
        </a:p>
      </dgm:t>
    </dgm:pt>
    <dgm:pt modelId="{EDA4AE9A-A470-4EAB-85EB-4B8935E434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Customer acquisition is expensive  </a:t>
          </a:r>
        </a:p>
      </dgm:t>
    </dgm:pt>
    <dgm:pt modelId="{9DAF5E26-1DB6-423E-B946-B06900621F55}" type="parTrans" cxnId="{CDAD47BB-ABA3-4966-BBC5-E18431572FEB}">
      <dgm:prSet/>
      <dgm:spPr/>
      <dgm:t>
        <a:bodyPr/>
        <a:lstStyle/>
        <a:p>
          <a:endParaRPr lang="en-US"/>
        </a:p>
      </dgm:t>
    </dgm:pt>
    <dgm:pt modelId="{A0C49523-AA87-4719-9B9C-671C9591AD3D}" type="sibTrans" cxnId="{CDAD47BB-ABA3-4966-BBC5-E18431572FEB}">
      <dgm:prSet/>
      <dgm:spPr/>
      <dgm:t>
        <a:bodyPr/>
        <a:lstStyle/>
        <a:p>
          <a:endParaRPr lang="en-US"/>
        </a:p>
      </dgm:t>
    </dgm:pt>
    <dgm:pt modelId="{762F9C8B-4D51-4962-A980-8DE8492CB31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Losing customers reduces long-term revenue  </a:t>
          </a:r>
        </a:p>
      </dgm:t>
    </dgm:pt>
    <dgm:pt modelId="{8D2BC09B-4A0F-4BE5-A145-5F05F81DFE97}" type="parTrans" cxnId="{3D84A6A1-6962-42FD-B773-74B4A969DA3E}">
      <dgm:prSet/>
      <dgm:spPr/>
      <dgm:t>
        <a:bodyPr/>
        <a:lstStyle/>
        <a:p>
          <a:endParaRPr lang="en-US"/>
        </a:p>
      </dgm:t>
    </dgm:pt>
    <dgm:pt modelId="{FAA5D04D-E531-4EAE-8FA4-63E8648CEB5E}" type="sibTrans" cxnId="{3D84A6A1-6962-42FD-B773-74B4A969DA3E}">
      <dgm:prSet/>
      <dgm:spPr/>
      <dgm:t>
        <a:bodyPr/>
        <a:lstStyle/>
        <a:p>
          <a:endParaRPr lang="en-US"/>
        </a:p>
      </dgm:t>
    </dgm:pt>
    <dgm:pt modelId="{4409F3D4-87EC-4259-A75B-26AEFE2270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Goal: Predict and prevent customer churn</a:t>
          </a:r>
        </a:p>
      </dgm:t>
    </dgm:pt>
    <dgm:pt modelId="{8EFB6038-F28A-4105-A45D-A7E029BC81EF}" type="parTrans" cxnId="{94D5D89F-403D-4CEE-9A81-5571D2E301A5}">
      <dgm:prSet/>
      <dgm:spPr/>
      <dgm:t>
        <a:bodyPr/>
        <a:lstStyle/>
        <a:p>
          <a:endParaRPr lang="en-US"/>
        </a:p>
      </dgm:t>
    </dgm:pt>
    <dgm:pt modelId="{89793208-CABD-463D-8AF8-E92164D0F537}" type="sibTrans" cxnId="{94D5D89F-403D-4CEE-9A81-5571D2E301A5}">
      <dgm:prSet/>
      <dgm:spPr/>
      <dgm:t>
        <a:bodyPr/>
        <a:lstStyle/>
        <a:p>
          <a:endParaRPr lang="en-US"/>
        </a:p>
      </dgm:t>
    </dgm:pt>
    <dgm:pt modelId="{99F5C448-C128-48CA-BE4D-D32AB76E1F11}" type="pres">
      <dgm:prSet presAssocID="{9F89B623-7B58-42C9-9D43-D34C3AE7B5A0}" presName="root" presStyleCnt="0">
        <dgm:presLayoutVars>
          <dgm:dir/>
          <dgm:resizeHandles val="exact"/>
        </dgm:presLayoutVars>
      </dgm:prSet>
      <dgm:spPr/>
    </dgm:pt>
    <dgm:pt modelId="{0E2676E2-FE46-4826-88B3-C8C940DC8188}" type="pres">
      <dgm:prSet presAssocID="{63630892-1CC1-4EF5-A82B-ABB4BB4B76A3}" presName="compNode" presStyleCnt="0"/>
      <dgm:spPr/>
    </dgm:pt>
    <dgm:pt modelId="{FB8F61CC-5210-498C-860B-D56C4DA0E22D}" type="pres">
      <dgm:prSet presAssocID="{63630892-1CC1-4EF5-A82B-ABB4BB4B76A3}" presName="bgRect" presStyleLbl="bgShp" presStyleIdx="0" presStyleCnt="4"/>
      <dgm:spPr/>
    </dgm:pt>
    <dgm:pt modelId="{FEF19FB7-E969-44DA-8AA6-89829005E3F0}" type="pres">
      <dgm:prSet presAssocID="{63630892-1CC1-4EF5-A82B-ABB4BB4B76A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FFFAF9C9-EB1D-4156-AAF2-F3411E3E6792}" type="pres">
      <dgm:prSet presAssocID="{63630892-1CC1-4EF5-A82B-ABB4BB4B76A3}" presName="spaceRect" presStyleCnt="0"/>
      <dgm:spPr/>
    </dgm:pt>
    <dgm:pt modelId="{6D951469-C2F7-4230-8026-E0A64CB60195}" type="pres">
      <dgm:prSet presAssocID="{63630892-1CC1-4EF5-A82B-ABB4BB4B76A3}" presName="parTx" presStyleLbl="revTx" presStyleIdx="0" presStyleCnt="4">
        <dgm:presLayoutVars>
          <dgm:chMax val="0"/>
          <dgm:chPref val="0"/>
        </dgm:presLayoutVars>
      </dgm:prSet>
      <dgm:spPr/>
    </dgm:pt>
    <dgm:pt modelId="{E9ED5319-6E3B-4C23-AF78-093BFF58CE45}" type="pres">
      <dgm:prSet presAssocID="{92CBEC7C-864E-4B4D-B6F4-1D5E2F98E588}" presName="sibTrans" presStyleCnt="0"/>
      <dgm:spPr/>
    </dgm:pt>
    <dgm:pt modelId="{05026DC3-B7CB-463E-B54B-7193603D9531}" type="pres">
      <dgm:prSet presAssocID="{EDA4AE9A-A470-4EAB-85EB-4B8935E4343F}" presName="compNode" presStyleCnt="0"/>
      <dgm:spPr/>
    </dgm:pt>
    <dgm:pt modelId="{DB38A72B-76E3-443C-BC17-D2074C8906C6}" type="pres">
      <dgm:prSet presAssocID="{EDA4AE9A-A470-4EAB-85EB-4B8935E4343F}" presName="bgRect" presStyleLbl="bgShp" presStyleIdx="1" presStyleCnt="4"/>
      <dgm:spPr/>
    </dgm:pt>
    <dgm:pt modelId="{3FFF9334-CE9C-4E80-8789-F74967BA4293}" type="pres">
      <dgm:prSet presAssocID="{EDA4AE9A-A470-4EAB-85EB-4B8935E4343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3E840C6-5343-42B9-943A-BB6109FE66D2}" type="pres">
      <dgm:prSet presAssocID="{EDA4AE9A-A470-4EAB-85EB-4B8935E4343F}" presName="spaceRect" presStyleCnt="0"/>
      <dgm:spPr/>
    </dgm:pt>
    <dgm:pt modelId="{C0B39802-16AC-470E-A4ED-40DD3B04F9D9}" type="pres">
      <dgm:prSet presAssocID="{EDA4AE9A-A470-4EAB-85EB-4B8935E4343F}" presName="parTx" presStyleLbl="revTx" presStyleIdx="1" presStyleCnt="4">
        <dgm:presLayoutVars>
          <dgm:chMax val="0"/>
          <dgm:chPref val="0"/>
        </dgm:presLayoutVars>
      </dgm:prSet>
      <dgm:spPr/>
    </dgm:pt>
    <dgm:pt modelId="{19D14AB0-DC10-4591-80AA-7CDA7762125C}" type="pres">
      <dgm:prSet presAssocID="{A0C49523-AA87-4719-9B9C-671C9591AD3D}" presName="sibTrans" presStyleCnt="0"/>
      <dgm:spPr/>
    </dgm:pt>
    <dgm:pt modelId="{FDDD52C9-97E4-41C2-AE9F-E0B800B38D7C}" type="pres">
      <dgm:prSet presAssocID="{762F9C8B-4D51-4962-A980-8DE8492CB31B}" presName="compNode" presStyleCnt="0"/>
      <dgm:spPr/>
    </dgm:pt>
    <dgm:pt modelId="{9F8858E0-C090-4F5D-9E4B-177127A4AD9C}" type="pres">
      <dgm:prSet presAssocID="{762F9C8B-4D51-4962-A980-8DE8492CB31B}" presName="bgRect" presStyleLbl="bgShp" presStyleIdx="2" presStyleCnt="4"/>
      <dgm:spPr/>
    </dgm:pt>
    <dgm:pt modelId="{01DE5BBC-E8A2-402C-B8A7-EDDC85CC36CE}" type="pres">
      <dgm:prSet presAssocID="{762F9C8B-4D51-4962-A980-8DE8492CB31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B6EAE254-85A8-4FC6-8D96-B7E4632BCC22}" type="pres">
      <dgm:prSet presAssocID="{762F9C8B-4D51-4962-A980-8DE8492CB31B}" presName="spaceRect" presStyleCnt="0"/>
      <dgm:spPr/>
    </dgm:pt>
    <dgm:pt modelId="{9E41C9C7-4E40-49AB-A373-955E7A78394F}" type="pres">
      <dgm:prSet presAssocID="{762F9C8B-4D51-4962-A980-8DE8492CB31B}" presName="parTx" presStyleLbl="revTx" presStyleIdx="2" presStyleCnt="4">
        <dgm:presLayoutVars>
          <dgm:chMax val="0"/>
          <dgm:chPref val="0"/>
        </dgm:presLayoutVars>
      </dgm:prSet>
      <dgm:spPr/>
    </dgm:pt>
    <dgm:pt modelId="{C85690AC-4D68-4740-BFAE-D79483E15639}" type="pres">
      <dgm:prSet presAssocID="{FAA5D04D-E531-4EAE-8FA4-63E8648CEB5E}" presName="sibTrans" presStyleCnt="0"/>
      <dgm:spPr/>
    </dgm:pt>
    <dgm:pt modelId="{D5DDC520-87A4-408B-B44F-BAC1D02F5E9C}" type="pres">
      <dgm:prSet presAssocID="{4409F3D4-87EC-4259-A75B-26AEFE22704C}" presName="compNode" presStyleCnt="0"/>
      <dgm:spPr/>
    </dgm:pt>
    <dgm:pt modelId="{2C58E4F2-C3BD-45E7-8A35-F09FEA1D18C5}" type="pres">
      <dgm:prSet presAssocID="{4409F3D4-87EC-4259-A75B-26AEFE22704C}" presName="bgRect" presStyleLbl="bgShp" presStyleIdx="3" presStyleCnt="4" custLinFactNeighborX="1444" custLinFactNeighborY="197"/>
      <dgm:spPr/>
    </dgm:pt>
    <dgm:pt modelId="{9177AAC5-4549-493F-A4F1-55C7BD451D70}" type="pres">
      <dgm:prSet presAssocID="{4409F3D4-87EC-4259-A75B-26AEFE22704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855C010C-6FF2-4873-B4D0-95337F55DBE2}" type="pres">
      <dgm:prSet presAssocID="{4409F3D4-87EC-4259-A75B-26AEFE22704C}" presName="spaceRect" presStyleCnt="0"/>
      <dgm:spPr/>
    </dgm:pt>
    <dgm:pt modelId="{35C20E42-CACF-4DEA-B08B-8FB0EC5C38E3}" type="pres">
      <dgm:prSet presAssocID="{4409F3D4-87EC-4259-A75B-26AEFE22704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4D0A544-7A56-47F1-81B0-88D119B15847}" type="presOf" srcId="{EDA4AE9A-A470-4EAB-85EB-4B8935E4343F}" destId="{C0B39802-16AC-470E-A4ED-40DD3B04F9D9}" srcOrd="0" destOrd="0" presId="urn:microsoft.com/office/officeart/2018/2/layout/IconVerticalSolidList"/>
    <dgm:cxn modelId="{F8364F82-1017-49B5-A11E-78B3DBC8043F}" type="presOf" srcId="{9F89B623-7B58-42C9-9D43-D34C3AE7B5A0}" destId="{99F5C448-C128-48CA-BE4D-D32AB76E1F11}" srcOrd="0" destOrd="0" presId="urn:microsoft.com/office/officeart/2018/2/layout/IconVerticalSolidList"/>
    <dgm:cxn modelId="{F7CBAE82-8530-493E-A1F6-792265B9A226}" type="presOf" srcId="{762F9C8B-4D51-4962-A980-8DE8492CB31B}" destId="{9E41C9C7-4E40-49AB-A373-955E7A78394F}" srcOrd="0" destOrd="0" presId="urn:microsoft.com/office/officeart/2018/2/layout/IconVerticalSolidList"/>
    <dgm:cxn modelId="{7133D396-A225-4FA8-B70D-FBD87631C17F}" srcId="{9F89B623-7B58-42C9-9D43-D34C3AE7B5A0}" destId="{63630892-1CC1-4EF5-A82B-ABB4BB4B76A3}" srcOrd="0" destOrd="0" parTransId="{6FFD28CB-D536-48BE-8382-E7B5768CCEF0}" sibTransId="{92CBEC7C-864E-4B4D-B6F4-1D5E2F98E588}"/>
    <dgm:cxn modelId="{94D5D89F-403D-4CEE-9A81-5571D2E301A5}" srcId="{9F89B623-7B58-42C9-9D43-D34C3AE7B5A0}" destId="{4409F3D4-87EC-4259-A75B-26AEFE22704C}" srcOrd="3" destOrd="0" parTransId="{8EFB6038-F28A-4105-A45D-A7E029BC81EF}" sibTransId="{89793208-CABD-463D-8AF8-E92164D0F537}"/>
    <dgm:cxn modelId="{3D84A6A1-6962-42FD-B773-74B4A969DA3E}" srcId="{9F89B623-7B58-42C9-9D43-D34C3AE7B5A0}" destId="{762F9C8B-4D51-4962-A980-8DE8492CB31B}" srcOrd="2" destOrd="0" parTransId="{8D2BC09B-4A0F-4BE5-A145-5F05F81DFE97}" sibTransId="{FAA5D04D-E531-4EAE-8FA4-63E8648CEB5E}"/>
    <dgm:cxn modelId="{FF57B3A6-3710-4DA2-8DE3-F33754116CB6}" type="presOf" srcId="{63630892-1CC1-4EF5-A82B-ABB4BB4B76A3}" destId="{6D951469-C2F7-4230-8026-E0A64CB60195}" srcOrd="0" destOrd="0" presId="urn:microsoft.com/office/officeart/2018/2/layout/IconVerticalSolidList"/>
    <dgm:cxn modelId="{CDAD47BB-ABA3-4966-BBC5-E18431572FEB}" srcId="{9F89B623-7B58-42C9-9D43-D34C3AE7B5A0}" destId="{EDA4AE9A-A470-4EAB-85EB-4B8935E4343F}" srcOrd="1" destOrd="0" parTransId="{9DAF5E26-1DB6-423E-B946-B06900621F55}" sibTransId="{A0C49523-AA87-4719-9B9C-671C9591AD3D}"/>
    <dgm:cxn modelId="{42AC29E5-DD7F-4B97-B1AF-E475B34C5DD4}" type="presOf" srcId="{4409F3D4-87EC-4259-A75B-26AEFE22704C}" destId="{35C20E42-CACF-4DEA-B08B-8FB0EC5C38E3}" srcOrd="0" destOrd="0" presId="urn:microsoft.com/office/officeart/2018/2/layout/IconVerticalSolidList"/>
    <dgm:cxn modelId="{D5887381-BB1C-4802-B6E3-5E2AA543724F}" type="presParOf" srcId="{99F5C448-C128-48CA-BE4D-D32AB76E1F11}" destId="{0E2676E2-FE46-4826-88B3-C8C940DC8188}" srcOrd="0" destOrd="0" presId="urn:microsoft.com/office/officeart/2018/2/layout/IconVerticalSolidList"/>
    <dgm:cxn modelId="{7EB3F4BA-FD11-4CF3-8D5E-BDE0297C749C}" type="presParOf" srcId="{0E2676E2-FE46-4826-88B3-C8C940DC8188}" destId="{FB8F61CC-5210-498C-860B-D56C4DA0E22D}" srcOrd="0" destOrd="0" presId="urn:microsoft.com/office/officeart/2018/2/layout/IconVerticalSolidList"/>
    <dgm:cxn modelId="{1AFCF16E-CC0D-4CBB-957E-5888FC8800A2}" type="presParOf" srcId="{0E2676E2-FE46-4826-88B3-C8C940DC8188}" destId="{FEF19FB7-E969-44DA-8AA6-89829005E3F0}" srcOrd="1" destOrd="0" presId="urn:microsoft.com/office/officeart/2018/2/layout/IconVerticalSolidList"/>
    <dgm:cxn modelId="{593748B3-6FB9-4016-BECA-E27E68D4953E}" type="presParOf" srcId="{0E2676E2-FE46-4826-88B3-C8C940DC8188}" destId="{FFFAF9C9-EB1D-4156-AAF2-F3411E3E6792}" srcOrd="2" destOrd="0" presId="urn:microsoft.com/office/officeart/2018/2/layout/IconVerticalSolidList"/>
    <dgm:cxn modelId="{AEB18B4C-F312-46C5-9AFB-8FF091EBCF9F}" type="presParOf" srcId="{0E2676E2-FE46-4826-88B3-C8C940DC8188}" destId="{6D951469-C2F7-4230-8026-E0A64CB60195}" srcOrd="3" destOrd="0" presId="urn:microsoft.com/office/officeart/2018/2/layout/IconVerticalSolidList"/>
    <dgm:cxn modelId="{874CD72C-7C02-455D-89AA-222978A83505}" type="presParOf" srcId="{99F5C448-C128-48CA-BE4D-D32AB76E1F11}" destId="{E9ED5319-6E3B-4C23-AF78-093BFF58CE45}" srcOrd="1" destOrd="0" presId="urn:microsoft.com/office/officeart/2018/2/layout/IconVerticalSolidList"/>
    <dgm:cxn modelId="{366F3333-54DB-4FA6-BF43-9E031525BBE2}" type="presParOf" srcId="{99F5C448-C128-48CA-BE4D-D32AB76E1F11}" destId="{05026DC3-B7CB-463E-B54B-7193603D9531}" srcOrd="2" destOrd="0" presId="urn:microsoft.com/office/officeart/2018/2/layout/IconVerticalSolidList"/>
    <dgm:cxn modelId="{263FC23E-AEE0-4820-B20A-C4EBB2AAC125}" type="presParOf" srcId="{05026DC3-B7CB-463E-B54B-7193603D9531}" destId="{DB38A72B-76E3-443C-BC17-D2074C8906C6}" srcOrd="0" destOrd="0" presId="urn:microsoft.com/office/officeart/2018/2/layout/IconVerticalSolidList"/>
    <dgm:cxn modelId="{385EFF74-C705-40F4-B4FF-DBE433B1427B}" type="presParOf" srcId="{05026DC3-B7CB-463E-B54B-7193603D9531}" destId="{3FFF9334-CE9C-4E80-8789-F74967BA4293}" srcOrd="1" destOrd="0" presId="urn:microsoft.com/office/officeart/2018/2/layout/IconVerticalSolidList"/>
    <dgm:cxn modelId="{EAE26A66-9CB1-41BD-93AD-11C5405FFFEE}" type="presParOf" srcId="{05026DC3-B7CB-463E-B54B-7193603D9531}" destId="{23E840C6-5343-42B9-943A-BB6109FE66D2}" srcOrd="2" destOrd="0" presId="urn:microsoft.com/office/officeart/2018/2/layout/IconVerticalSolidList"/>
    <dgm:cxn modelId="{421D6CEF-96CF-48DC-A448-9504C1471D4D}" type="presParOf" srcId="{05026DC3-B7CB-463E-B54B-7193603D9531}" destId="{C0B39802-16AC-470E-A4ED-40DD3B04F9D9}" srcOrd="3" destOrd="0" presId="urn:microsoft.com/office/officeart/2018/2/layout/IconVerticalSolidList"/>
    <dgm:cxn modelId="{B6E6EED8-B6AC-4AB5-AF5A-EBA81856D764}" type="presParOf" srcId="{99F5C448-C128-48CA-BE4D-D32AB76E1F11}" destId="{19D14AB0-DC10-4591-80AA-7CDA7762125C}" srcOrd="3" destOrd="0" presId="urn:microsoft.com/office/officeart/2018/2/layout/IconVerticalSolidList"/>
    <dgm:cxn modelId="{54F6ACBA-5A82-43DE-821E-4DBCB529B68E}" type="presParOf" srcId="{99F5C448-C128-48CA-BE4D-D32AB76E1F11}" destId="{FDDD52C9-97E4-41C2-AE9F-E0B800B38D7C}" srcOrd="4" destOrd="0" presId="urn:microsoft.com/office/officeart/2018/2/layout/IconVerticalSolidList"/>
    <dgm:cxn modelId="{30085E7E-BA79-4B5A-8C82-56FDD544755C}" type="presParOf" srcId="{FDDD52C9-97E4-41C2-AE9F-E0B800B38D7C}" destId="{9F8858E0-C090-4F5D-9E4B-177127A4AD9C}" srcOrd="0" destOrd="0" presId="urn:microsoft.com/office/officeart/2018/2/layout/IconVerticalSolidList"/>
    <dgm:cxn modelId="{E60E8DEC-3ED8-4433-A9BA-22A43924B5F0}" type="presParOf" srcId="{FDDD52C9-97E4-41C2-AE9F-E0B800B38D7C}" destId="{01DE5BBC-E8A2-402C-B8A7-EDDC85CC36CE}" srcOrd="1" destOrd="0" presId="urn:microsoft.com/office/officeart/2018/2/layout/IconVerticalSolidList"/>
    <dgm:cxn modelId="{72D6FF64-CDD9-4A13-B4C1-CDB24D594136}" type="presParOf" srcId="{FDDD52C9-97E4-41C2-AE9F-E0B800B38D7C}" destId="{B6EAE254-85A8-4FC6-8D96-B7E4632BCC22}" srcOrd="2" destOrd="0" presId="urn:microsoft.com/office/officeart/2018/2/layout/IconVerticalSolidList"/>
    <dgm:cxn modelId="{21D16FD0-D0F9-4C82-804A-60078ADBF0D3}" type="presParOf" srcId="{FDDD52C9-97E4-41C2-AE9F-E0B800B38D7C}" destId="{9E41C9C7-4E40-49AB-A373-955E7A78394F}" srcOrd="3" destOrd="0" presId="urn:microsoft.com/office/officeart/2018/2/layout/IconVerticalSolidList"/>
    <dgm:cxn modelId="{3D739579-FA5D-4C89-9481-472D1055847A}" type="presParOf" srcId="{99F5C448-C128-48CA-BE4D-D32AB76E1F11}" destId="{C85690AC-4D68-4740-BFAE-D79483E15639}" srcOrd="5" destOrd="0" presId="urn:microsoft.com/office/officeart/2018/2/layout/IconVerticalSolidList"/>
    <dgm:cxn modelId="{22A38E3E-EA78-4D36-9B7D-CF6FD1E13A9B}" type="presParOf" srcId="{99F5C448-C128-48CA-BE4D-D32AB76E1F11}" destId="{D5DDC520-87A4-408B-B44F-BAC1D02F5E9C}" srcOrd="6" destOrd="0" presId="urn:microsoft.com/office/officeart/2018/2/layout/IconVerticalSolidList"/>
    <dgm:cxn modelId="{8F3A6DE1-63F4-485E-ADF5-04F5667B31ED}" type="presParOf" srcId="{D5DDC520-87A4-408B-B44F-BAC1D02F5E9C}" destId="{2C58E4F2-C3BD-45E7-8A35-F09FEA1D18C5}" srcOrd="0" destOrd="0" presId="urn:microsoft.com/office/officeart/2018/2/layout/IconVerticalSolidList"/>
    <dgm:cxn modelId="{A59EEF1A-195B-455D-81C4-BE851756D524}" type="presParOf" srcId="{D5DDC520-87A4-408B-B44F-BAC1D02F5E9C}" destId="{9177AAC5-4549-493F-A4F1-55C7BD451D70}" srcOrd="1" destOrd="0" presId="urn:microsoft.com/office/officeart/2018/2/layout/IconVerticalSolidList"/>
    <dgm:cxn modelId="{335693D0-37F2-4D2B-B85D-98EEBFEE5AAC}" type="presParOf" srcId="{D5DDC520-87A4-408B-B44F-BAC1D02F5E9C}" destId="{855C010C-6FF2-4873-B4D0-95337F55DBE2}" srcOrd="2" destOrd="0" presId="urn:microsoft.com/office/officeart/2018/2/layout/IconVerticalSolidList"/>
    <dgm:cxn modelId="{2E3F9E2A-E020-4A6E-835C-A02ED19AC123}" type="presParOf" srcId="{D5DDC520-87A4-408B-B44F-BAC1D02F5E9C}" destId="{35C20E42-CACF-4DEA-B08B-8FB0EC5C38E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2C7F03F-9AB5-4F54-B62C-19492544D85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A7DF13-5D3D-404B-B863-2AB94D0C5D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Retention is cheaper than acquisition  </a:t>
          </a:r>
        </a:p>
      </dgm:t>
    </dgm:pt>
    <dgm:pt modelId="{7BAACBA7-8FCB-482D-B03A-7ECB765BE2EA}" type="parTrans" cxnId="{5D017F44-FFB1-4821-985F-FF0FADD44FF5}">
      <dgm:prSet/>
      <dgm:spPr/>
      <dgm:t>
        <a:bodyPr/>
        <a:lstStyle/>
        <a:p>
          <a:endParaRPr lang="en-US"/>
        </a:p>
      </dgm:t>
    </dgm:pt>
    <dgm:pt modelId="{4ADDD537-EE71-4806-AEDC-08BD40CFBF40}" type="sibTrans" cxnId="{5D017F44-FFB1-4821-985F-FF0FADD44FF5}">
      <dgm:prSet/>
      <dgm:spPr/>
      <dgm:t>
        <a:bodyPr/>
        <a:lstStyle/>
        <a:p>
          <a:endParaRPr lang="en-US"/>
        </a:p>
      </dgm:t>
    </dgm:pt>
    <dgm:pt modelId="{47702099-19A1-46AC-B276-CEB19A3CB96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Helps improve customer loyalty  </a:t>
          </a:r>
        </a:p>
      </dgm:t>
    </dgm:pt>
    <dgm:pt modelId="{AA773382-A3A6-43F9-B0F5-55AE6A4F557F}" type="parTrans" cxnId="{F8F9E1F8-9EBD-4E98-9C37-2436E29A7F71}">
      <dgm:prSet/>
      <dgm:spPr/>
      <dgm:t>
        <a:bodyPr/>
        <a:lstStyle/>
        <a:p>
          <a:endParaRPr lang="en-US"/>
        </a:p>
      </dgm:t>
    </dgm:pt>
    <dgm:pt modelId="{8186BC27-C9B1-4169-87DE-532AC8B54CBE}" type="sibTrans" cxnId="{F8F9E1F8-9EBD-4E98-9C37-2436E29A7F71}">
      <dgm:prSet/>
      <dgm:spPr/>
      <dgm:t>
        <a:bodyPr/>
        <a:lstStyle/>
        <a:p>
          <a:endParaRPr lang="en-US"/>
        </a:p>
      </dgm:t>
    </dgm:pt>
    <dgm:pt modelId="{006885AD-35FB-4706-ADBE-64C2CF08A1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800" dirty="0"/>
            <a:t>• Enables targeted marketing strategies </a:t>
          </a:r>
        </a:p>
      </dgm:t>
    </dgm:pt>
    <dgm:pt modelId="{85569781-FD02-467A-9C21-7E31D4625380}" type="parTrans" cxnId="{F884E7E6-3C0D-4701-A9D0-AB1727BB998A}">
      <dgm:prSet/>
      <dgm:spPr/>
      <dgm:t>
        <a:bodyPr/>
        <a:lstStyle/>
        <a:p>
          <a:endParaRPr lang="en-US"/>
        </a:p>
      </dgm:t>
    </dgm:pt>
    <dgm:pt modelId="{9D22F588-3CC4-48E2-A214-AB4E6FBA967D}" type="sibTrans" cxnId="{F884E7E6-3C0D-4701-A9D0-AB1727BB998A}">
      <dgm:prSet/>
      <dgm:spPr/>
      <dgm:t>
        <a:bodyPr/>
        <a:lstStyle/>
        <a:p>
          <a:endParaRPr lang="en-US"/>
        </a:p>
      </dgm:t>
    </dgm:pt>
    <dgm:pt modelId="{36E28633-3A36-40F6-A2F6-D92AFC4F61BE}" type="pres">
      <dgm:prSet presAssocID="{42C7F03F-9AB5-4F54-B62C-19492544D856}" presName="root" presStyleCnt="0">
        <dgm:presLayoutVars>
          <dgm:dir/>
          <dgm:resizeHandles val="exact"/>
        </dgm:presLayoutVars>
      </dgm:prSet>
      <dgm:spPr/>
    </dgm:pt>
    <dgm:pt modelId="{9EA11C93-CEE0-4EA3-91EF-040CE83E1338}" type="pres">
      <dgm:prSet presAssocID="{88A7DF13-5D3D-404B-B863-2AB94D0C5D43}" presName="compNode" presStyleCnt="0"/>
      <dgm:spPr/>
    </dgm:pt>
    <dgm:pt modelId="{3B3B3962-738A-4392-8499-BFEE6B427014}" type="pres">
      <dgm:prSet presAssocID="{88A7DF13-5D3D-404B-B863-2AB94D0C5D43}" presName="bgRect" presStyleLbl="bgShp" presStyleIdx="0" presStyleCnt="3"/>
      <dgm:spPr/>
    </dgm:pt>
    <dgm:pt modelId="{006CD035-B1F1-4C52-A9A7-029170157C0C}" type="pres">
      <dgm:prSet presAssocID="{88A7DF13-5D3D-404B-B863-2AB94D0C5D4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B60C1E6-6E81-431C-BFC7-CBEC6765E077}" type="pres">
      <dgm:prSet presAssocID="{88A7DF13-5D3D-404B-B863-2AB94D0C5D43}" presName="spaceRect" presStyleCnt="0"/>
      <dgm:spPr/>
    </dgm:pt>
    <dgm:pt modelId="{E2813B6C-FDDC-4C7C-A36C-9B7A8A5CD7DC}" type="pres">
      <dgm:prSet presAssocID="{88A7DF13-5D3D-404B-B863-2AB94D0C5D43}" presName="parTx" presStyleLbl="revTx" presStyleIdx="0" presStyleCnt="3">
        <dgm:presLayoutVars>
          <dgm:chMax val="0"/>
          <dgm:chPref val="0"/>
        </dgm:presLayoutVars>
      </dgm:prSet>
      <dgm:spPr/>
    </dgm:pt>
    <dgm:pt modelId="{FBA30547-F180-491E-8B3A-6CB8B00DCBB5}" type="pres">
      <dgm:prSet presAssocID="{4ADDD537-EE71-4806-AEDC-08BD40CFBF40}" presName="sibTrans" presStyleCnt="0"/>
      <dgm:spPr/>
    </dgm:pt>
    <dgm:pt modelId="{1DF3F217-A8C9-4F60-8046-27C12C9969EC}" type="pres">
      <dgm:prSet presAssocID="{47702099-19A1-46AC-B276-CEB19A3CB965}" presName="compNode" presStyleCnt="0"/>
      <dgm:spPr/>
    </dgm:pt>
    <dgm:pt modelId="{F40BEE87-2EC2-461E-BF0D-27185AE9ED65}" type="pres">
      <dgm:prSet presAssocID="{47702099-19A1-46AC-B276-CEB19A3CB965}" presName="bgRect" presStyleLbl="bgShp" presStyleIdx="1" presStyleCnt="3"/>
      <dgm:spPr/>
    </dgm:pt>
    <dgm:pt modelId="{B6EDD046-F19D-4CDE-803D-318D6BA5C631}" type="pres">
      <dgm:prSet presAssocID="{47702099-19A1-46AC-B276-CEB19A3CB96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D29DB248-E7F6-4FAA-9A2E-3CC19CFD5767}" type="pres">
      <dgm:prSet presAssocID="{47702099-19A1-46AC-B276-CEB19A3CB965}" presName="spaceRect" presStyleCnt="0"/>
      <dgm:spPr/>
    </dgm:pt>
    <dgm:pt modelId="{C3E8B54F-879B-46AC-8FBF-740D422B2656}" type="pres">
      <dgm:prSet presAssocID="{47702099-19A1-46AC-B276-CEB19A3CB965}" presName="parTx" presStyleLbl="revTx" presStyleIdx="1" presStyleCnt="3">
        <dgm:presLayoutVars>
          <dgm:chMax val="0"/>
          <dgm:chPref val="0"/>
        </dgm:presLayoutVars>
      </dgm:prSet>
      <dgm:spPr/>
    </dgm:pt>
    <dgm:pt modelId="{36C6901D-C1FE-4876-A238-4D3847D6CCC4}" type="pres">
      <dgm:prSet presAssocID="{8186BC27-C9B1-4169-87DE-532AC8B54CBE}" presName="sibTrans" presStyleCnt="0"/>
      <dgm:spPr/>
    </dgm:pt>
    <dgm:pt modelId="{2CC32F84-DC54-4C9C-BB9F-49BA64C9D28C}" type="pres">
      <dgm:prSet presAssocID="{006885AD-35FB-4706-ADBE-64C2CF08A1FC}" presName="compNode" presStyleCnt="0"/>
      <dgm:spPr/>
    </dgm:pt>
    <dgm:pt modelId="{58313FE2-4F61-4C7B-BCB3-16DF13CF973D}" type="pres">
      <dgm:prSet presAssocID="{006885AD-35FB-4706-ADBE-64C2CF08A1FC}" presName="bgRect" presStyleLbl="bgShp" presStyleIdx="2" presStyleCnt="3"/>
      <dgm:spPr/>
    </dgm:pt>
    <dgm:pt modelId="{A9F926CD-1A3B-4C26-9626-0C8CDA23AFD3}" type="pres">
      <dgm:prSet presAssocID="{006885AD-35FB-4706-ADBE-64C2CF08A1F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76414E2-7E6D-46D9-81C7-0F3FA4682680}" type="pres">
      <dgm:prSet presAssocID="{006885AD-35FB-4706-ADBE-64C2CF08A1FC}" presName="spaceRect" presStyleCnt="0"/>
      <dgm:spPr/>
    </dgm:pt>
    <dgm:pt modelId="{5DBF22A8-DEF1-4B8F-89EF-17C5F35D1821}" type="pres">
      <dgm:prSet presAssocID="{006885AD-35FB-4706-ADBE-64C2CF08A1F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337EBB06-AF94-4858-BD13-BE2FF9889882}" type="presOf" srcId="{42C7F03F-9AB5-4F54-B62C-19492544D856}" destId="{36E28633-3A36-40F6-A2F6-D92AFC4F61BE}" srcOrd="0" destOrd="0" presId="urn:microsoft.com/office/officeart/2018/2/layout/IconVerticalSolidList"/>
    <dgm:cxn modelId="{5D017F44-FFB1-4821-985F-FF0FADD44FF5}" srcId="{42C7F03F-9AB5-4F54-B62C-19492544D856}" destId="{88A7DF13-5D3D-404B-B863-2AB94D0C5D43}" srcOrd="0" destOrd="0" parTransId="{7BAACBA7-8FCB-482D-B03A-7ECB765BE2EA}" sibTransId="{4ADDD537-EE71-4806-AEDC-08BD40CFBF40}"/>
    <dgm:cxn modelId="{B38B59CD-3668-4F7E-903A-D4DD144B102B}" type="presOf" srcId="{47702099-19A1-46AC-B276-CEB19A3CB965}" destId="{C3E8B54F-879B-46AC-8FBF-740D422B2656}" srcOrd="0" destOrd="0" presId="urn:microsoft.com/office/officeart/2018/2/layout/IconVerticalSolidList"/>
    <dgm:cxn modelId="{F884E7E6-3C0D-4701-A9D0-AB1727BB998A}" srcId="{42C7F03F-9AB5-4F54-B62C-19492544D856}" destId="{006885AD-35FB-4706-ADBE-64C2CF08A1FC}" srcOrd="2" destOrd="0" parTransId="{85569781-FD02-467A-9C21-7E31D4625380}" sibTransId="{9D22F588-3CC4-48E2-A214-AB4E6FBA967D}"/>
    <dgm:cxn modelId="{F471C2F3-CD56-4F1D-A859-2C6334CB0A63}" type="presOf" srcId="{006885AD-35FB-4706-ADBE-64C2CF08A1FC}" destId="{5DBF22A8-DEF1-4B8F-89EF-17C5F35D1821}" srcOrd="0" destOrd="0" presId="urn:microsoft.com/office/officeart/2018/2/layout/IconVerticalSolidList"/>
    <dgm:cxn modelId="{03D471F5-51B6-44AD-A333-323BD6396D92}" type="presOf" srcId="{88A7DF13-5D3D-404B-B863-2AB94D0C5D43}" destId="{E2813B6C-FDDC-4C7C-A36C-9B7A8A5CD7DC}" srcOrd="0" destOrd="0" presId="urn:microsoft.com/office/officeart/2018/2/layout/IconVerticalSolidList"/>
    <dgm:cxn modelId="{F8F9E1F8-9EBD-4E98-9C37-2436E29A7F71}" srcId="{42C7F03F-9AB5-4F54-B62C-19492544D856}" destId="{47702099-19A1-46AC-B276-CEB19A3CB965}" srcOrd="1" destOrd="0" parTransId="{AA773382-A3A6-43F9-B0F5-55AE6A4F557F}" sibTransId="{8186BC27-C9B1-4169-87DE-532AC8B54CBE}"/>
    <dgm:cxn modelId="{7D8E580A-1C05-4E16-A438-274A4A6E66E4}" type="presParOf" srcId="{36E28633-3A36-40F6-A2F6-D92AFC4F61BE}" destId="{9EA11C93-CEE0-4EA3-91EF-040CE83E1338}" srcOrd="0" destOrd="0" presId="urn:microsoft.com/office/officeart/2018/2/layout/IconVerticalSolidList"/>
    <dgm:cxn modelId="{24FD320E-FB9C-4B7D-8CAD-B3F5A85E5E28}" type="presParOf" srcId="{9EA11C93-CEE0-4EA3-91EF-040CE83E1338}" destId="{3B3B3962-738A-4392-8499-BFEE6B427014}" srcOrd="0" destOrd="0" presId="urn:microsoft.com/office/officeart/2018/2/layout/IconVerticalSolidList"/>
    <dgm:cxn modelId="{8116864A-EFC4-4A94-B788-B01FFDD5B9AB}" type="presParOf" srcId="{9EA11C93-CEE0-4EA3-91EF-040CE83E1338}" destId="{006CD035-B1F1-4C52-A9A7-029170157C0C}" srcOrd="1" destOrd="0" presId="urn:microsoft.com/office/officeart/2018/2/layout/IconVerticalSolidList"/>
    <dgm:cxn modelId="{1CEFFD74-A80A-4655-9F80-B5D47550D3B7}" type="presParOf" srcId="{9EA11C93-CEE0-4EA3-91EF-040CE83E1338}" destId="{2B60C1E6-6E81-431C-BFC7-CBEC6765E077}" srcOrd="2" destOrd="0" presId="urn:microsoft.com/office/officeart/2018/2/layout/IconVerticalSolidList"/>
    <dgm:cxn modelId="{8C3F132C-C3FF-4399-9968-7DEA75DCC186}" type="presParOf" srcId="{9EA11C93-CEE0-4EA3-91EF-040CE83E1338}" destId="{E2813B6C-FDDC-4C7C-A36C-9B7A8A5CD7DC}" srcOrd="3" destOrd="0" presId="urn:microsoft.com/office/officeart/2018/2/layout/IconVerticalSolidList"/>
    <dgm:cxn modelId="{2FC32B32-FAB6-4F77-9420-F4BF95949CB7}" type="presParOf" srcId="{36E28633-3A36-40F6-A2F6-D92AFC4F61BE}" destId="{FBA30547-F180-491E-8B3A-6CB8B00DCBB5}" srcOrd="1" destOrd="0" presId="urn:microsoft.com/office/officeart/2018/2/layout/IconVerticalSolidList"/>
    <dgm:cxn modelId="{8A414BAD-9000-4731-8B37-723C85E1AD72}" type="presParOf" srcId="{36E28633-3A36-40F6-A2F6-D92AFC4F61BE}" destId="{1DF3F217-A8C9-4F60-8046-27C12C9969EC}" srcOrd="2" destOrd="0" presId="urn:microsoft.com/office/officeart/2018/2/layout/IconVerticalSolidList"/>
    <dgm:cxn modelId="{099DD5EF-C8E3-4FB3-B73C-97274E940018}" type="presParOf" srcId="{1DF3F217-A8C9-4F60-8046-27C12C9969EC}" destId="{F40BEE87-2EC2-461E-BF0D-27185AE9ED65}" srcOrd="0" destOrd="0" presId="urn:microsoft.com/office/officeart/2018/2/layout/IconVerticalSolidList"/>
    <dgm:cxn modelId="{6409128A-FFA3-4D99-B283-BEEB1840B30E}" type="presParOf" srcId="{1DF3F217-A8C9-4F60-8046-27C12C9969EC}" destId="{B6EDD046-F19D-4CDE-803D-318D6BA5C631}" srcOrd="1" destOrd="0" presId="urn:microsoft.com/office/officeart/2018/2/layout/IconVerticalSolidList"/>
    <dgm:cxn modelId="{1E0903E6-FFA6-45F3-9F2C-73C6E25EA63F}" type="presParOf" srcId="{1DF3F217-A8C9-4F60-8046-27C12C9969EC}" destId="{D29DB248-E7F6-4FAA-9A2E-3CC19CFD5767}" srcOrd="2" destOrd="0" presId="urn:microsoft.com/office/officeart/2018/2/layout/IconVerticalSolidList"/>
    <dgm:cxn modelId="{5F40307D-BD11-4BB2-ACE4-926605873DB3}" type="presParOf" srcId="{1DF3F217-A8C9-4F60-8046-27C12C9969EC}" destId="{C3E8B54F-879B-46AC-8FBF-740D422B2656}" srcOrd="3" destOrd="0" presId="urn:microsoft.com/office/officeart/2018/2/layout/IconVerticalSolidList"/>
    <dgm:cxn modelId="{2F5FA744-3907-4A6F-BFBB-30DFF650365A}" type="presParOf" srcId="{36E28633-3A36-40F6-A2F6-D92AFC4F61BE}" destId="{36C6901D-C1FE-4876-A238-4D3847D6CCC4}" srcOrd="3" destOrd="0" presId="urn:microsoft.com/office/officeart/2018/2/layout/IconVerticalSolidList"/>
    <dgm:cxn modelId="{2EA75F40-D61B-41B5-95FC-433EE158F1C2}" type="presParOf" srcId="{36E28633-3A36-40F6-A2F6-D92AFC4F61BE}" destId="{2CC32F84-DC54-4C9C-BB9F-49BA64C9D28C}" srcOrd="4" destOrd="0" presId="urn:microsoft.com/office/officeart/2018/2/layout/IconVerticalSolidList"/>
    <dgm:cxn modelId="{2A26C1F6-F096-4B95-A4CE-96A7AE63C3E1}" type="presParOf" srcId="{2CC32F84-DC54-4C9C-BB9F-49BA64C9D28C}" destId="{58313FE2-4F61-4C7B-BCB3-16DF13CF973D}" srcOrd="0" destOrd="0" presId="urn:microsoft.com/office/officeart/2018/2/layout/IconVerticalSolidList"/>
    <dgm:cxn modelId="{B0F382F7-756A-4DA8-8D99-030AF57FF584}" type="presParOf" srcId="{2CC32F84-DC54-4C9C-BB9F-49BA64C9D28C}" destId="{A9F926CD-1A3B-4C26-9626-0C8CDA23AFD3}" srcOrd="1" destOrd="0" presId="urn:microsoft.com/office/officeart/2018/2/layout/IconVerticalSolidList"/>
    <dgm:cxn modelId="{56FDB4FE-9E6F-48FC-BBDC-1A17B798EAEB}" type="presParOf" srcId="{2CC32F84-DC54-4C9C-BB9F-49BA64C9D28C}" destId="{B76414E2-7E6D-46D9-81C7-0F3FA4682680}" srcOrd="2" destOrd="0" presId="urn:microsoft.com/office/officeart/2018/2/layout/IconVerticalSolidList"/>
    <dgm:cxn modelId="{09850345-018C-4C42-8B53-0D9C4B5FFB69}" type="presParOf" srcId="{2CC32F84-DC54-4C9C-BB9F-49BA64C9D28C}" destId="{5DBF22A8-DEF1-4B8F-89EF-17C5F35D18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8F61CC-5210-498C-860B-D56C4DA0E22D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F19FB7-E969-44DA-8AA6-89829005E3F0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951469-C2F7-4230-8026-E0A64CB60195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Banking industry is highly competitive  </a:t>
          </a:r>
        </a:p>
      </dsp:txBody>
      <dsp:txXfrm>
        <a:off x="1099610" y="1878"/>
        <a:ext cx="7129989" cy="952043"/>
      </dsp:txXfrm>
    </dsp:sp>
    <dsp:sp modelId="{DB38A72B-76E3-443C-BC17-D2074C8906C6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FF9334-CE9C-4E80-8789-F74967BA4293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B39802-16AC-470E-A4ED-40DD3B04F9D9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Customer acquisition is expensive  </a:t>
          </a:r>
        </a:p>
      </dsp:txBody>
      <dsp:txXfrm>
        <a:off x="1099610" y="1191932"/>
        <a:ext cx="7129989" cy="952043"/>
      </dsp:txXfrm>
    </dsp:sp>
    <dsp:sp modelId="{9F8858E0-C090-4F5D-9E4B-177127A4AD9C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E5BBC-E8A2-402C-B8A7-EDDC85CC36CE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41C9C7-4E40-49AB-A373-955E7A78394F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Losing customers reduces long-term revenue  </a:t>
          </a:r>
        </a:p>
      </dsp:txBody>
      <dsp:txXfrm>
        <a:off x="1099610" y="2381986"/>
        <a:ext cx="7129989" cy="952043"/>
      </dsp:txXfrm>
    </dsp:sp>
    <dsp:sp modelId="{2C58E4F2-C3BD-45E7-8A35-F09FEA1D18C5}">
      <dsp:nvSpPr>
        <dsp:cNvPr id="0" name=""/>
        <dsp:cNvSpPr/>
      </dsp:nvSpPr>
      <dsp:spPr>
        <a:xfrm>
          <a:off x="0" y="357391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77AAC5-4549-493F-A4F1-55C7BD451D70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C20E42-CACF-4DEA-B08B-8FB0EC5C38E3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Goal: Predict and prevent customer churn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B3962-738A-4392-8499-BFEE6B427014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CD035-B1F1-4C52-A9A7-029170157C0C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813B6C-FDDC-4C7C-A36C-9B7A8A5CD7DC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Retention is cheaper than acquisition  </a:t>
          </a:r>
        </a:p>
      </dsp:txBody>
      <dsp:txXfrm>
        <a:off x="1493203" y="552"/>
        <a:ext cx="6736396" cy="1292816"/>
      </dsp:txXfrm>
    </dsp:sp>
    <dsp:sp modelId="{F40BEE87-2EC2-461E-BF0D-27185AE9ED65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EDD046-F19D-4CDE-803D-318D6BA5C631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E8B54F-879B-46AC-8FBF-740D422B2656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Helps improve customer loyalty  </a:t>
          </a:r>
        </a:p>
      </dsp:txBody>
      <dsp:txXfrm>
        <a:off x="1493203" y="1616573"/>
        <a:ext cx="6736396" cy="1292816"/>
      </dsp:txXfrm>
    </dsp:sp>
    <dsp:sp modelId="{58313FE2-4F61-4C7B-BCB3-16DF13CF973D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F926CD-1A3B-4C26-9626-0C8CDA23AFD3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BF22A8-DEF1-4B8F-89EF-17C5F35D1821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• Enables targeted marketing strategies </a:t>
          </a:r>
        </a:p>
      </dsp:txBody>
      <dsp:txXfrm>
        <a:off x="1493203" y="3232593"/>
        <a:ext cx="6736396" cy="12928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B5B5CF-8D40-4F77-B6F8-EE7EA4F10FD9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9DA0E4-5E35-4DE5-8BB5-0E00E451CE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862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DA0E4-5E35-4DE5-8BB5-0E00E451CE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6372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DA0E4-5E35-4DE5-8BB5-0E00E451CE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95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DA0E4-5E35-4DE5-8BB5-0E00E451CE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9813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9DA0E4-5E35-4DE5-8BB5-0E00E451CE8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10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1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10" Type="http://schemas.openxmlformats.org/officeDocument/2006/relationships/image" Target="../media/image2.png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4.m4a"/><Relationship Id="rId1" Type="http://schemas.microsoft.com/office/2007/relationships/media" Target="../media/media14.m4a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5.m4a"/><Relationship Id="rId1" Type="http://schemas.microsoft.com/office/2007/relationships/media" Target="../media/media15.m4a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6.m4a"/><Relationship Id="rId1" Type="http://schemas.microsoft.com/office/2007/relationships/media" Target="../media/media16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000" b="1" dirty="0"/>
              <a:t>Credit Card Customer Churn Prediction</a:t>
            </a:r>
            <a:br>
              <a:rPr lang="en-US" sz="4700" b="1" dirty="0"/>
            </a:br>
            <a:br>
              <a:rPr lang="en-US" sz="4700" b="1" dirty="0"/>
            </a:br>
            <a:endParaRPr lang="en-US" sz="47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endParaRPr lang="en-US" sz="1800" dirty="0"/>
          </a:p>
          <a:p>
            <a:pPr algn="l">
              <a:lnSpc>
                <a:spcPct val="90000"/>
              </a:lnSpc>
            </a:pPr>
            <a:r>
              <a:rPr lang="en-US" sz="1800" dirty="0"/>
              <a:t>Maxim Bilenkin 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DSC 680 - Applied Data Science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Milestone 3</a:t>
            </a:r>
          </a:p>
          <a:p>
            <a:pPr algn="l">
              <a:lnSpc>
                <a:spcPct val="90000"/>
              </a:lnSpc>
            </a:pPr>
            <a:r>
              <a:rPr lang="en-US" sz="1800" dirty="0"/>
              <a:t>Spring 2026</a:t>
            </a:r>
          </a:p>
        </p:txBody>
      </p:sp>
      <p:pic>
        <p:nvPicPr>
          <p:cNvPr id="5" name="Picture 4" descr="A stack of bank cards">
            <a:extLst>
              <a:ext uri="{FF2B5EF4-FFF2-40B4-BE49-F238E27FC236}">
                <a16:creationId xmlns:a16="http://schemas.microsoft.com/office/drawing/2014/main" id="{6FEC3AE6-1282-C95C-4E4C-E2FCA0EC4B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362" r="8514" b="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Audio 26">
            <a:hlinkClick r:id="" action="ppaction://media"/>
            <a:extLst>
              <a:ext uri="{FF2B5EF4-FFF2-40B4-BE49-F238E27FC236}">
                <a16:creationId xmlns:a16="http://schemas.microsoft.com/office/drawing/2014/main" id="{72C31375-A437-0471-ED72-3F714985E1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206"/>
    </mc:Choice>
    <mc:Fallback xmlns="">
      <p:transition spd="slow" advTm="282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Business Problem</a:t>
            </a:r>
          </a:p>
        </p:txBody>
      </p: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4E149882-25A0-F0C3-0730-1EADC9920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64075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BB35C471-522B-47B1-E0B3-64E65AB8EC6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107"/>
    </mc:Choice>
    <mc:Fallback xmlns="">
      <p:transition spd="slow" advTm="26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Why It Matters</a:t>
            </a:r>
            <a:endParaRPr sz="4000" b="1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3B02D1-5481-F578-FC8A-4D8E824827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821744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FA91D7FE-D10B-E833-8016-DC415873EF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510"/>
    </mc:Choice>
    <mc:Fallback xmlns="">
      <p:transition spd="slow" advTm="3551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979" y="402855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Background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Content Placeholder 2"/>
          <p:cNvSpPr>
            <a:spLocks noGrp="1"/>
          </p:cNvSpPr>
          <p:nvPr>
            <p:ph idx="1"/>
          </p:nvPr>
        </p:nvSpPr>
        <p:spPr>
          <a:xfrm>
            <a:off x="457201" y="2196452"/>
            <a:ext cx="8074152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Customer churn = customers leaving the bank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Caused by dissatisfaction, competition, or low usage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Machine learning helps predict churn patterns</a:t>
            </a: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Audio 7">
            <a:hlinkClick r:id="" action="ppaction://media"/>
            <a:extLst>
              <a:ext uri="{FF2B5EF4-FFF2-40B4-BE49-F238E27FC236}">
                <a16:creationId xmlns:a16="http://schemas.microsoft.com/office/drawing/2014/main" id="{0C6F34BF-DF7A-9154-F796-7BF373B58E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17"/>
    </mc:Choice>
    <mc:Fallback xmlns="">
      <p:transition spd="slow" advTm="401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439431"/>
            <a:ext cx="7375161" cy="1325563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Dataset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1811131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BankChurners dataset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10,127 customers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23 features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Includes demographics + transaction behavior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3" name="Audio 12">
            <a:hlinkClick r:id="" action="ppaction://media"/>
            <a:extLst>
              <a:ext uri="{FF2B5EF4-FFF2-40B4-BE49-F238E27FC236}">
                <a16:creationId xmlns:a16="http://schemas.microsoft.com/office/drawing/2014/main" id="{CFD7E9A3-D0F1-A38D-41D3-EF53A6821B7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07"/>
    </mc:Choice>
    <mc:Fallback xmlns="">
      <p:transition spd="slow" advTm="32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419" y="617897"/>
            <a:ext cx="7375161" cy="680551"/>
          </a:xfrm>
        </p:spPr>
        <p:txBody>
          <a:bodyPr anchor="b">
            <a:normAutofit fontScale="90000"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Data Preparation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1536528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Removed Naive Bayes columns (data leakage)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No missing values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Encoded categorical variables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Target variable: 0 = Existing, 1 = Churned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0" name="Audio 19">
            <a:hlinkClick r:id="" action="ppaction://media"/>
            <a:extLst>
              <a:ext uri="{FF2B5EF4-FFF2-40B4-BE49-F238E27FC236}">
                <a16:creationId xmlns:a16="http://schemas.microsoft.com/office/drawing/2014/main" id="{C4A69AA7-058A-8EC5-3CB7-A5B94CC758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885"/>
    </mc:Choice>
    <mc:Fallback xmlns="">
      <p:transition spd="slow" advTm="39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411" y="617897"/>
            <a:ext cx="7375161" cy="735415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Methods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4419" y="1584330"/>
            <a:ext cx="7375161" cy="30983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Logistic Regression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Random Forest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Evaluation: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 - Accuracy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 - ROC-AUC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   - Confusion Matrix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Audio 15">
            <a:hlinkClick r:id="" action="ppaction://media"/>
            <a:extLst>
              <a:ext uri="{FF2B5EF4-FFF2-40B4-BE49-F238E27FC236}">
                <a16:creationId xmlns:a16="http://schemas.microsoft.com/office/drawing/2014/main" id="{26157087-4AC1-8E08-8639-87A697CCCDE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817"/>
    </mc:Choice>
    <mc:Fallback xmlns="">
      <p:transition spd="slow" advTm="198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289206-064A-23C9-7120-2C6C5329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620" y="374903"/>
            <a:ext cx="7372350" cy="863659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Churn Distribution 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F375A-FC0F-B8D6-D842-A81E04A0C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735" y="1742484"/>
            <a:ext cx="3845172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500" dirty="0">
                <a:solidFill>
                  <a:schemeClr val="tx2"/>
                </a:solidFill>
              </a:rPr>
              <a:t>• Dataset is imbalanced  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tx2"/>
                </a:solidFill>
              </a:rPr>
              <a:t>• ~84% existing customers  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tx2"/>
                </a:solidFill>
              </a:rPr>
              <a:t>• ~16% churned customers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8C41304-41BA-7534-824B-644224B98C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067" y="1600200"/>
            <a:ext cx="4446029" cy="4206240"/>
          </a:xfrm>
          <a:prstGeom prst="rect">
            <a:avLst/>
          </a:prstGeom>
        </p:spPr>
      </p:pic>
      <p:pic>
        <p:nvPicPr>
          <p:cNvPr id="17" name="Audio 16">
            <a:hlinkClick r:id="" action="ppaction://media"/>
            <a:extLst>
              <a:ext uri="{FF2B5EF4-FFF2-40B4-BE49-F238E27FC236}">
                <a16:creationId xmlns:a16="http://schemas.microsoft.com/office/drawing/2014/main" id="{E39DACEE-9215-D3DE-F42F-79DFA6174CB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959142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193"/>
    </mc:Choice>
    <mc:Fallback xmlns="">
      <p:transition spd="slow" advTm="1519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7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82330-BF8D-4CB1-13F6-32071B909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5272"/>
            <a:ext cx="7372350" cy="1325880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Transaction Behavior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3EDFD-7045-8362-4172-0F69997B6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" y="1684419"/>
            <a:ext cx="4000620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• Churned customers spend less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• Lower engagement = higher churn risk 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79E1B81-F378-1C52-BA50-798E84DEF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0928" b="-2"/>
          <a:stretch>
            <a:fillRect/>
          </a:stretch>
        </p:blipFill>
        <p:spPr>
          <a:xfrm>
            <a:off x="4110348" y="1775859"/>
            <a:ext cx="4686180" cy="3655677"/>
          </a:xfrm>
          <a:prstGeom prst="rect">
            <a:avLst/>
          </a:prstGeom>
        </p:spPr>
      </p:pic>
      <p:pic>
        <p:nvPicPr>
          <p:cNvPr id="15" name="Audio 14">
            <a:hlinkClick r:id="" action="ppaction://media"/>
            <a:extLst>
              <a:ext uri="{FF2B5EF4-FFF2-40B4-BE49-F238E27FC236}">
                <a16:creationId xmlns:a16="http://schemas.microsoft.com/office/drawing/2014/main" id="{24D0DBE9-2A12-290D-AE5F-F52B6428F02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46861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52"/>
    </mc:Choice>
    <mc:Fallback xmlns="">
      <p:transition spd="slow" advTm="214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1E020063-2385-44AC-BD67-258E1F0B9F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014A0B-5338-4077-AFE9-A90D04D44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CE16F-DA8A-CB5C-8370-A6CFE6237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501" y="328735"/>
            <a:ext cx="7372350" cy="567377"/>
          </a:xfrm>
        </p:spPr>
        <p:txBody>
          <a:bodyPr anchor="b">
            <a:no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Feature Importance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8127680-150F-4A90-9950-F66392578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28" y="-1"/>
            <a:ext cx="2521551" cy="2522849"/>
            <a:chOff x="-305" y="-1"/>
            <a:chExt cx="3832880" cy="2876136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088F97A-8362-4967-B664-D748B846E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0F9DEDE-4318-412A-81C5-C8C90F6897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9E97DE9-7844-4707-8928-1CD88ADB72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C58954E-44A5-4A0D-97A9-8A2BB43D6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00B8-B1ED-C06E-EA3B-9EEA962ABF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" y="1272939"/>
            <a:ext cx="3845172" cy="32276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Top Drivers: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• Total Transaction Amount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• Total Transaction Count  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• Transaction change behavior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466920E5-8640-4C24-A775-864763709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 flipH="1">
            <a:off x="7370340" y="5084569"/>
            <a:ext cx="2151670" cy="1395192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BA3142-5A82-43CE-87A2-EB14B17A51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F5A1C7-9938-4A33-A5A4-2B05353B3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62A936D-E9F6-4A68-82C2-1D1CC7772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68A9229-BBBE-4934-9700-BA72A1BB03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61CB748-A15B-C4BF-FAAA-5E394F5FF7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08960" y="1133857"/>
            <a:ext cx="5797296" cy="4590288"/>
          </a:xfrm>
          <a:prstGeom prst="rect">
            <a:avLst/>
          </a:prstGeom>
          <a:noFill/>
        </p:spPr>
      </p:pic>
      <p:pic>
        <p:nvPicPr>
          <p:cNvPr id="32" name="Audio 31">
            <a:hlinkClick r:id="" action="ppaction://media"/>
            <a:extLst>
              <a:ext uri="{FF2B5EF4-FFF2-40B4-BE49-F238E27FC236}">
                <a16:creationId xmlns:a16="http://schemas.microsoft.com/office/drawing/2014/main" id="{3755E0DD-6960-55B7-52AD-A664CF3803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9519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986"/>
    </mc:Choice>
    <mc:Fallback xmlns="">
      <p:transition spd="slow" advTm="2198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0B0BF7-143C-00B0-1303-72C005272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43" y="579890"/>
            <a:ext cx="8013114" cy="7637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Model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91F73-0A91-444B-0847-89DAF8CCC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894" y="1572769"/>
            <a:ext cx="7101908" cy="1783080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Logistic Regression: ~86% </a:t>
            </a:r>
            <a:br>
              <a:rPr lang="en-US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en-US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Random Forest: ~95.5% </a:t>
            </a:r>
            <a:br>
              <a:rPr lang="en-US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</a:br>
            <a:r>
              <a:rPr lang="en-US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• ROC-AUC: ~0.987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5" y="4001437"/>
            <a:ext cx="3655725" cy="2057400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Audio 28">
            <a:hlinkClick r:id="" action="ppaction://media"/>
            <a:extLst>
              <a:ext uri="{FF2B5EF4-FFF2-40B4-BE49-F238E27FC236}">
                <a16:creationId xmlns:a16="http://schemas.microsoft.com/office/drawing/2014/main" id="{FD23A586-C2CA-5DE0-6592-22ABDDBFAC0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580871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709"/>
    </mc:Choice>
    <mc:Fallback xmlns="">
      <p:transition spd="slow" advTm="1670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A3A4E1-74DB-44A3-986E-F88796C14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338847"/>
            <a:ext cx="7375161" cy="731001"/>
          </a:xfrm>
        </p:spPr>
        <p:txBody>
          <a:bodyPr anchor="b">
            <a:norm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Key Insights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035B7-FBF9-084F-82F0-9487ADC67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9827" y="1437083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Customer activity drives churn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Low usage = high risk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Demographics have low impact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Audio 6">
            <a:hlinkClick r:id="" action="ppaction://media"/>
            <a:extLst>
              <a:ext uri="{FF2B5EF4-FFF2-40B4-BE49-F238E27FC236}">
                <a16:creationId xmlns:a16="http://schemas.microsoft.com/office/drawing/2014/main" id="{B34A468A-DE2C-7045-9493-6F8EE40CD5D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223602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7079"/>
    </mc:Choice>
    <mc:Fallback xmlns="">
      <p:transition spd="slow" advTm="2707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D3519A-B44D-073E-D3A9-011F0984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503439"/>
            <a:ext cx="7375161" cy="621273"/>
          </a:xfrm>
        </p:spPr>
        <p:txBody>
          <a:bodyPr anchor="b">
            <a:no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Recommendations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9B230-37A6-FE75-6ABA-FFD678B32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411" y="1543991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Target low-activity customers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Improve rewards (cashback)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Enhance customer experience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Monitor spending behavior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9" name="Audio 28">
            <a:hlinkClick r:id="" action="ppaction://media"/>
            <a:extLst>
              <a:ext uri="{FF2B5EF4-FFF2-40B4-BE49-F238E27FC236}">
                <a16:creationId xmlns:a16="http://schemas.microsoft.com/office/drawing/2014/main" id="{F8F7D9E5-66FE-65A4-AD65-FCC15487FE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084012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149"/>
    </mc:Choice>
    <mc:Fallback xmlns="">
      <p:transition spd="slow" advTm="4714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985ED-AAC9-421D-E74F-612B01399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393711"/>
            <a:ext cx="7375161" cy="666993"/>
          </a:xfrm>
        </p:spPr>
        <p:txBody>
          <a:bodyPr anchor="b">
            <a:no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Future Uses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A071B-E738-CE66-5FDC-F8A4429C54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835" y="1190195"/>
            <a:ext cx="7375161" cy="26939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Apply to loans and other products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Real-time churn prediction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Expand to other industries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Audio 24">
            <a:hlinkClick r:id="" action="ppaction://media"/>
            <a:extLst>
              <a:ext uri="{FF2B5EF4-FFF2-40B4-BE49-F238E27FC236}">
                <a16:creationId xmlns:a16="http://schemas.microsoft.com/office/drawing/2014/main" id="{A515E422-22F0-1891-3C24-B062EC4DFA2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39775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266"/>
    </mc:Choice>
    <mc:Fallback xmlns="">
      <p:transition spd="slow" advTm="3726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996CBB-CA3D-5512-4A7E-7D1B271FD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19" y="448575"/>
            <a:ext cx="7375161" cy="657849"/>
          </a:xfrm>
        </p:spPr>
        <p:txBody>
          <a:bodyPr anchor="b">
            <a:noAutofit/>
          </a:bodyPr>
          <a:lstStyle/>
          <a:p>
            <a:r>
              <a:rPr lang="en-US" sz="4000" b="1" dirty="0">
                <a:solidFill>
                  <a:schemeClr val="tx2"/>
                </a:solidFill>
              </a:rPr>
              <a:t>Ethical Considerations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17417" y="0"/>
            <a:ext cx="2926583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13798-19F7-88FA-31E7-FA61DD450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419" y="1399032"/>
            <a:ext cx="7375161" cy="29331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Avoid bias in predictions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Ensure fair treatment  </a:t>
            </a:r>
          </a:p>
          <a:p>
            <a:pPr marL="0" indent="0">
              <a:buNone/>
            </a:pPr>
            <a:r>
              <a:rPr lang="en-US" sz="2800" dirty="0">
                <a:solidFill>
                  <a:schemeClr val="tx2"/>
                </a:solidFill>
              </a:rPr>
              <a:t>• Use data responsibly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174211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6" name="Audio 25">
            <a:hlinkClick r:id="" action="ppaction://media"/>
            <a:extLst>
              <a:ext uri="{FF2B5EF4-FFF2-40B4-BE49-F238E27FC236}">
                <a16:creationId xmlns:a16="http://schemas.microsoft.com/office/drawing/2014/main" id="{B1ED203F-B74E-629F-E794-480C4601C89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99212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785"/>
    </mc:Choice>
    <mc:Fallback xmlns="">
      <p:transition spd="slow" advTm="177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E1D63-4B54-ECB6-2E6B-BF16CA9AD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443" y="575569"/>
            <a:ext cx="8013114" cy="745488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AC9C6-C67B-FEAA-8CDB-476A172A1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46" y="2420922"/>
            <a:ext cx="7101908" cy="57831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8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Questions?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900351" y="0"/>
            <a:ext cx="3243649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799165" y="4001437"/>
            <a:ext cx="3655725" cy="2057400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3" name="Audio 22">
            <a:hlinkClick r:id="" action="ppaction://media"/>
            <a:extLst>
              <a:ext uri="{FF2B5EF4-FFF2-40B4-BE49-F238E27FC236}">
                <a16:creationId xmlns:a16="http://schemas.microsoft.com/office/drawing/2014/main" id="{42F5F325-1277-AB7B-DF92-F2E05F37F9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l="-118750" t="-118750" r="-118750" b="-118750"/>
          <a:stretch>
            <a:fillRect/>
          </a:stretch>
        </p:blipFill>
        <p:spPr>
          <a:xfrm>
            <a:off x="7004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7712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69"/>
    </mc:Choice>
    <mc:Fallback xmlns="">
      <p:transition spd="slow" advTm="666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0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3"/>
                </p:tgtEl>
              </p:cMediaNode>
            </p:audio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4391</TotalTime>
  <Words>308</Words>
  <Application>Microsoft Office PowerPoint</Application>
  <PresentationFormat>On-screen Show (4:3)</PresentationFormat>
  <Paragraphs>73</Paragraphs>
  <Slides>16</Slides>
  <Notes>4</Notes>
  <HiddenSlides>0</HiddenSlides>
  <MMClips>16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Credit Card Customer Churn Prediction  </vt:lpstr>
      <vt:lpstr>Business Problem</vt:lpstr>
      <vt:lpstr>Why It Matters</vt:lpstr>
      <vt:lpstr>Background</vt:lpstr>
      <vt:lpstr>Dataset</vt:lpstr>
      <vt:lpstr>Data Preparation</vt:lpstr>
      <vt:lpstr>Methods</vt:lpstr>
      <vt:lpstr>Churn Distribution </vt:lpstr>
      <vt:lpstr>Transaction Behavior</vt:lpstr>
      <vt:lpstr>Feature Importance</vt:lpstr>
      <vt:lpstr>Model Results</vt:lpstr>
      <vt:lpstr>Key Insights</vt:lpstr>
      <vt:lpstr>Recommendations</vt:lpstr>
      <vt:lpstr>Future Uses</vt:lpstr>
      <vt:lpstr>Ethical Considerations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Maxim Bilenkin</dc:creator>
  <cp:keywords/>
  <dc:description>generated using python-pptx</dc:description>
  <cp:lastModifiedBy>Maxim Bilenkin</cp:lastModifiedBy>
  <cp:revision>1</cp:revision>
  <dcterms:created xsi:type="dcterms:W3CDTF">2013-01-27T09:14:16Z</dcterms:created>
  <dcterms:modified xsi:type="dcterms:W3CDTF">2026-05-28T03:42:25Z</dcterms:modified>
  <cp:category/>
</cp:coreProperties>
</file>